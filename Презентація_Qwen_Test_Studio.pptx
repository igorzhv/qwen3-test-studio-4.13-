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20624"/>
            <a:ext cx="82296" cy="685800"/>
          </a:xfrm>
          <a:prstGeom prst="rect">
            <a:avLst/>
          </a:prstGeom>
          <a:solidFill>
            <a:srgbClr val="30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0F7FF"/>
                </a:solidFill>
                <a:latin typeface="Aptos"/>
              </a:defRPr>
            </a:pPr>
            <a:r>
              <a:t>QWEN TEST STUDIO | ВАРІАНТ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950976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A2BBD0"/>
                </a:solidFill>
                <a:latin typeface="Aptos"/>
              </a:defRPr>
            </a:pPr>
            <a:r>
              <a:t>Міні-LLM для створення навчальних тестів • Qwen3-0.6B + LoRA • НУОУ,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10927080" cy="2029968"/>
          </a:xfrm>
          <a:prstGeom prst="roundRect">
            <a:avLst/>
          </a:prstGeom>
          <a:solidFill>
            <a:srgbClr val="15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91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0CDE1"/>
                </a:solidFill>
                <a:latin typeface="Aptos"/>
              </a:defRPr>
            </a:pPr>
            <a:r>
              <a:t>АРХІТЕКТУРА РІШЕННЯ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" y="2240280"/>
            <a:ext cx="1874519" cy="932688"/>
          </a:xfrm>
          <a:prstGeom prst="roundRect">
            <a:avLst/>
          </a:prstGeom>
          <a:solidFill>
            <a:srgbClr val="204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331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0CDE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22576"/>
            <a:ext cx="13441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0F7FF"/>
                </a:solidFill>
                <a:latin typeface="Aptos"/>
              </a:defRPr>
            </a:pPr>
            <a:r>
              <a:t>Навчальний</a:t>
            </a:r>
          </a:p>
          <a:p>
            <a:pPr>
              <a:defRPr sz="1500" b="1">
                <a:solidFill>
                  <a:srgbClr val="F0F7FF"/>
                </a:solidFill>
                <a:latin typeface="Aptos"/>
              </a:defRPr>
            </a:pPr>
            <a:r>
              <a:t>текст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98064" y="254203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AA5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54096" y="2240280"/>
            <a:ext cx="1874519" cy="932688"/>
          </a:xfrm>
          <a:prstGeom prst="roundRect">
            <a:avLst/>
          </a:prstGeom>
          <a:solidFill>
            <a:srgbClr val="204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82112" y="2331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0CDE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4" y="2322576"/>
            <a:ext cx="13441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0F7FF"/>
                </a:solidFill>
                <a:latin typeface="Aptos"/>
              </a:defRPr>
            </a:pPr>
            <a:r>
              <a:t>Qwen3</a:t>
            </a:r>
          </a:p>
          <a:p>
            <a:pPr>
              <a:defRPr sz="1500" b="1">
                <a:solidFill>
                  <a:srgbClr val="F0F7FF"/>
                </a:solidFill>
                <a:latin typeface="Aptos"/>
              </a:defRPr>
            </a:pPr>
            <a:r>
              <a:t>0.6B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254203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AA5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79" y="2240280"/>
            <a:ext cx="1874519" cy="932688"/>
          </a:xfrm>
          <a:prstGeom prst="roundRect">
            <a:avLst/>
          </a:prstGeom>
          <a:solidFill>
            <a:srgbClr val="204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0095" y="2331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0CDE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87567" y="2322576"/>
            <a:ext cx="13441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0F7FF"/>
                </a:solidFill>
                <a:latin typeface="Aptos"/>
              </a:defRPr>
            </a:pPr>
            <a:r>
              <a:t>LoRA</a:t>
            </a:r>
          </a:p>
          <a:p>
            <a:pPr>
              <a:defRPr sz="1500" b="1">
                <a:solidFill>
                  <a:srgbClr val="F0F7FF"/>
                </a:solidFill>
                <a:latin typeface="Aptos"/>
              </a:defRPr>
            </a:pPr>
            <a:r>
              <a:t>адаптер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4031" y="254203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AA5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70064" y="2240280"/>
            <a:ext cx="1874519" cy="932688"/>
          </a:xfrm>
          <a:prstGeom prst="roundRect">
            <a:avLst/>
          </a:prstGeom>
          <a:solidFill>
            <a:srgbClr val="204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0" y="2331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0CDE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2322576"/>
            <a:ext cx="13441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0F7FF"/>
                </a:solidFill>
                <a:latin typeface="Aptos"/>
              </a:defRPr>
            </a:pPr>
            <a:r>
              <a:t>JSON</a:t>
            </a:r>
          </a:p>
          <a:p>
            <a:pPr>
              <a:defRPr sz="1500" b="1">
                <a:solidFill>
                  <a:srgbClr val="F0F7FF"/>
                </a:solidFill>
                <a:latin typeface="Aptos"/>
              </a:defRPr>
            </a:pPr>
            <a:r>
              <a:t>валідація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2016" y="254203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AA5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28048" y="2240280"/>
            <a:ext cx="1874519" cy="932688"/>
          </a:xfrm>
          <a:prstGeom prst="roundRect">
            <a:avLst/>
          </a:prstGeom>
          <a:solidFill>
            <a:srgbClr val="204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56064" y="2331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0CDE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3536" y="2322576"/>
            <a:ext cx="13441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0F7FF"/>
                </a:solidFill>
                <a:latin typeface="Aptos"/>
              </a:defRPr>
            </a:pPr>
            <a:r>
              <a:t>Тест</a:t>
            </a:r>
          </a:p>
          <a:p>
            <a:pPr>
              <a:defRPr sz="1500" b="1">
                <a:solidFill>
                  <a:srgbClr val="F0F7FF"/>
                </a:solidFill>
                <a:latin typeface="Aptos"/>
              </a:defRPr>
            </a:pPr>
            <a:r>
              <a:t>A / B / 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822191"/>
            <a:ext cx="3502152" cy="1417320"/>
          </a:xfrm>
          <a:prstGeom prst="roundRect">
            <a:avLst/>
          </a:prstGeom>
          <a:solidFill>
            <a:srgbClr val="15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3995928"/>
            <a:ext cx="1554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700" b="1">
                <a:solidFill>
                  <a:srgbClr val="30CDE1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468172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0F7FF"/>
                </a:solidFill>
                <a:latin typeface="Aptos"/>
              </a:defRPr>
            </a:pPr>
            <a:r>
              <a:t>синтетичних прикладів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52544" y="3822191"/>
            <a:ext cx="3502152" cy="1417320"/>
          </a:xfrm>
          <a:prstGeom prst="roundRect">
            <a:avLst/>
          </a:prstGeom>
          <a:solidFill>
            <a:srgbClr val="15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90288" y="3995928"/>
            <a:ext cx="1554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700" b="1">
                <a:solidFill>
                  <a:srgbClr val="30CDE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08576" y="468172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0F7FF"/>
                </a:solidFill>
                <a:latin typeface="Aptos"/>
              </a:defRPr>
            </a:pPr>
            <a:r>
              <a:t>контрольних текстів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5008" y="3822191"/>
            <a:ext cx="3502152" cy="1417320"/>
          </a:xfrm>
          <a:prstGeom prst="roundRect">
            <a:avLst/>
          </a:prstGeom>
          <a:solidFill>
            <a:srgbClr val="15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02752" y="3995928"/>
            <a:ext cx="1554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700" b="1">
                <a:solidFill>
                  <a:srgbClr val="30CDE1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68172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0F7FF"/>
                </a:solidFill>
                <a:latin typeface="Aptos"/>
              </a:defRPr>
            </a:pPr>
            <a:r>
              <a:t>кроків навчання LoRA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57424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0F7FF"/>
                </a:solidFill>
                <a:latin typeface="Aptos"/>
              </a:defRPr>
            </a:pPr>
            <a:r>
              <a:t>Демонстрація: текст → запитання → три відповіді → перевірка ключа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20624"/>
            <a:ext cx="82296" cy="685800"/>
          </a:xfrm>
          <a:prstGeom prst="rect">
            <a:avLst/>
          </a:prstGeom>
          <a:solidFill>
            <a:srgbClr val="30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0F7FF"/>
                </a:solidFill>
                <a:latin typeface="Aptos"/>
              </a:defRPr>
            </a:pPr>
            <a:r>
              <a:t>РЕЗУЛЬТАТИ ЕКСПЕРИМЕНТУ ТА ДЕМОНСТРАЦІЯ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950976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A2BBD0"/>
                </a:solidFill>
                <a:latin typeface="Aptos"/>
              </a:defRPr>
            </a:pPr>
            <a:r>
              <a:t>Однакові 5 контрольних текстів до і після LoRA • фактичні результати, без прикрашання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394960" cy="4251960"/>
          </a:xfrm>
          <a:prstGeom prst="roundRect">
            <a:avLst/>
          </a:prstGeom>
          <a:solidFill>
            <a:srgbClr val="15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74650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0CDE1"/>
                </a:solidFill>
                <a:latin typeface="Aptos"/>
              </a:defRPr>
            </a:pPr>
            <a:r>
              <a:t>КОРЕКТНИЙ JSON (ІЗ 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606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0F7FF"/>
                </a:solidFill>
                <a:latin typeface="Aptos"/>
              </a:defRPr>
            </a:pPr>
            <a:r>
              <a:t>До LoRA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2679192"/>
            <a:ext cx="2331720" cy="210312"/>
          </a:xfrm>
          <a:prstGeom prst="rect">
            <a:avLst/>
          </a:prstGeom>
          <a:solidFill>
            <a:srgbClr val="4B5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71800" y="2679192"/>
            <a:ext cx="32004" cy="210312"/>
          </a:xfrm>
          <a:prstGeom prst="rect">
            <a:avLst/>
          </a:prstGeom>
          <a:solidFill>
            <a:srgbClr val="FFA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2578608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AA5B"/>
                </a:solidFill>
                <a:latin typeface="Aptos"/>
              </a:defRPr>
            </a:pPr>
            <a:r>
              <a:t>0 /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7490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0F7FF"/>
                </a:solidFill>
                <a:latin typeface="Aptos"/>
              </a:defRPr>
            </a:pPr>
            <a:r>
              <a:t>Після LoRA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71800" y="3822191"/>
            <a:ext cx="2331720" cy="210312"/>
          </a:xfrm>
          <a:prstGeom prst="rect">
            <a:avLst/>
          </a:prstGeom>
          <a:solidFill>
            <a:srgbClr val="4B5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71800" y="3822191"/>
            <a:ext cx="32004" cy="210312"/>
          </a:xfrm>
          <a:prstGeom prst="rect">
            <a:avLst/>
          </a:prstGeom>
          <a:solidFill>
            <a:srgbClr val="FFA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3721607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AA5B"/>
                </a:solidFill>
                <a:latin typeface="Aptos"/>
              </a:defRPr>
            </a:pPr>
            <a:r>
              <a:t>0 /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4864608"/>
            <a:ext cx="4800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0F7FF"/>
                </a:solidFill>
                <a:latin typeface="Aptos"/>
              </a:defRPr>
            </a:pPr>
            <a:r>
              <a:t>0% → 0%: покращення формату не доведено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463040"/>
            <a:ext cx="5303520" cy="4251960"/>
          </a:xfrm>
          <a:prstGeom prst="roundRect">
            <a:avLst/>
          </a:prstGeom>
          <a:solidFill>
            <a:srgbClr val="15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174650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0CDE1"/>
                </a:solidFill>
                <a:latin typeface="Aptos"/>
              </a:defRPr>
            </a:pPr>
            <a:r>
              <a:t>ЩО ПОКАЖЕМО НА ЗАХИСТІ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350008"/>
            <a:ext cx="530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AA5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350008"/>
            <a:ext cx="4069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0F7FF"/>
                </a:solidFill>
                <a:latin typeface="Aptos"/>
              </a:defRPr>
            </a:pPr>
            <a:r>
              <a:t>Інтерфейс Streamlit у браузері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944368"/>
            <a:ext cx="530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AA5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944368"/>
            <a:ext cx="4069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0F7FF"/>
                </a:solidFill>
                <a:latin typeface="Aptos"/>
              </a:defRPr>
            </a:pPr>
            <a:r>
              <a:t>Введення власного навчального тексту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538728"/>
            <a:ext cx="530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AA5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538728"/>
            <a:ext cx="4069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0F7FF"/>
                </a:solidFill>
                <a:latin typeface="Aptos"/>
              </a:defRPr>
            </a:pPr>
            <a:r>
              <a:t>Запитання A / B / C та перевірка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133087"/>
            <a:ext cx="530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AA5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4133087"/>
            <a:ext cx="4069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0F7FF"/>
                </a:solidFill>
                <a:latin typeface="Aptos"/>
              </a:defRPr>
            </a:pPr>
            <a:r>
              <a:t>Порівняння генерацій до / після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727448"/>
            <a:ext cx="530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AA5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4727448"/>
            <a:ext cx="4069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0F7FF"/>
                </a:solidFill>
                <a:latin typeface="Aptos"/>
              </a:defRPr>
            </a:pPr>
            <a:r>
              <a:t>Обмеження першого LoRA-адаптера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5989320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2BBD0"/>
                </a:solidFill>
                <a:latin typeface="Aptos"/>
              </a:defRPr>
            </a:pPr>
            <a:r>
              <a:t>Висновок: навчання адаптера виконано; якість генерації потребує поліпшення. Деморежим — шаблон, не LLM.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